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Poppins Bold" charset="1" panose="00000800000000000000"/>
      <p:regular r:id="rId18"/>
    </p:embeddedFont>
    <p:embeddedFont>
      <p:font typeface="Inter" charset="1" panose="020B0502030000000004"/>
      <p:regular r:id="rId19"/>
    </p:embeddedFont>
    <p:embeddedFont>
      <p:font typeface="Poppins" charset="1" panose="00000500000000000000"/>
      <p:regular r:id="rId20"/>
    </p:embeddedFont>
    <p:embeddedFont>
      <p:font typeface="Canva Sans Bold" charset="1" panose="020B0803030501040103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1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60343" y="9889125"/>
            <a:ext cx="19408687" cy="996493"/>
            <a:chOff x="0" y="0"/>
            <a:chExt cx="5111753" cy="2624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11753" cy="262451"/>
            </a:xfrm>
            <a:custGeom>
              <a:avLst/>
              <a:gdLst/>
              <a:ahLst/>
              <a:cxnLst/>
              <a:rect r="r" b="b" t="t" l="l"/>
              <a:pathLst>
                <a:path h="262451" w="5111753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1028700"/>
            <a:ext cx="642386" cy="729984"/>
          </a:xfrm>
          <a:custGeom>
            <a:avLst/>
            <a:gdLst/>
            <a:ahLst/>
            <a:cxnLst/>
            <a:rect r="r" b="b" t="t" l="l"/>
            <a:pathLst>
              <a:path h="729984" w="642386">
                <a:moveTo>
                  <a:pt x="0" y="0"/>
                </a:moveTo>
                <a:lnTo>
                  <a:pt x="642386" y="0"/>
                </a:lnTo>
                <a:lnTo>
                  <a:pt x="642386" y="729984"/>
                </a:lnTo>
                <a:lnTo>
                  <a:pt x="0" y="7299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49264" y="333712"/>
            <a:ext cx="2287772" cy="2424129"/>
          </a:xfrm>
          <a:custGeom>
            <a:avLst/>
            <a:gdLst/>
            <a:ahLst/>
            <a:cxnLst/>
            <a:rect r="r" b="b" t="t" l="l"/>
            <a:pathLst>
              <a:path h="2424129" w="2287772">
                <a:moveTo>
                  <a:pt x="0" y="0"/>
                </a:moveTo>
                <a:lnTo>
                  <a:pt x="2287772" y="0"/>
                </a:lnTo>
                <a:lnTo>
                  <a:pt x="2287772" y="2424129"/>
                </a:lnTo>
                <a:lnTo>
                  <a:pt x="0" y="24241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062572" y="181628"/>
            <a:ext cx="2835239" cy="2424129"/>
          </a:xfrm>
          <a:custGeom>
            <a:avLst/>
            <a:gdLst/>
            <a:ahLst/>
            <a:cxnLst/>
            <a:rect r="r" b="b" t="t" l="l"/>
            <a:pathLst>
              <a:path h="2424129" w="2835239">
                <a:moveTo>
                  <a:pt x="0" y="0"/>
                </a:moveTo>
                <a:lnTo>
                  <a:pt x="2835239" y="0"/>
                </a:lnTo>
                <a:lnTo>
                  <a:pt x="2835239" y="2424129"/>
                </a:lnTo>
                <a:lnTo>
                  <a:pt x="0" y="24241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015768" y="1545776"/>
            <a:ext cx="725513" cy="824447"/>
          </a:xfrm>
          <a:custGeom>
            <a:avLst/>
            <a:gdLst/>
            <a:ahLst/>
            <a:cxnLst/>
            <a:rect r="r" b="b" t="t" l="l"/>
            <a:pathLst>
              <a:path h="824447" w="725513">
                <a:moveTo>
                  <a:pt x="0" y="0"/>
                </a:moveTo>
                <a:lnTo>
                  <a:pt x="725513" y="0"/>
                </a:lnTo>
                <a:lnTo>
                  <a:pt x="725513" y="824447"/>
                </a:lnTo>
                <a:lnTo>
                  <a:pt x="0" y="8244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138262" y="3367666"/>
            <a:ext cx="5759549" cy="5759549"/>
          </a:xfrm>
          <a:custGeom>
            <a:avLst/>
            <a:gdLst/>
            <a:ahLst/>
            <a:cxnLst/>
            <a:rect r="r" b="b" t="t" l="l"/>
            <a:pathLst>
              <a:path h="5759549" w="5759549">
                <a:moveTo>
                  <a:pt x="0" y="0"/>
                </a:moveTo>
                <a:lnTo>
                  <a:pt x="5759549" y="0"/>
                </a:lnTo>
                <a:lnTo>
                  <a:pt x="5759549" y="5759549"/>
                </a:lnTo>
                <a:lnTo>
                  <a:pt x="0" y="575954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-340611" y="4388707"/>
            <a:ext cx="12179734" cy="2280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b="true" sz="6178" spc="4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On The Ninu Supermarke</a:t>
            </a:r>
            <a:r>
              <a:rPr lang="en-US" b="true" sz="6178" spc="4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  System WebApplication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984516" y="1710036"/>
            <a:ext cx="6699324" cy="600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1"/>
              </a:lnSpc>
              <a:spcBef>
                <a:spcPct val="0"/>
              </a:spcBef>
            </a:pPr>
            <a:r>
              <a:rPr lang="en-US" sz="35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NINU-Facul</a:t>
            </a:r>
            <a:r>
              <a:rPr lang="en-US" sz="35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ty of ENGINEERING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60343" y="9889125"/>
            <a:ext cx="19408687" cy="996493"/>
            <a:chOff x="0" y="0"/>
            <a:chExt cx="5111753" cy="2624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11753" cy="262451"/>
            </a:xfrm>
            <a:custGeom>
              <a:avLst/>
              <a:gdLst/>
              <a:ahLst/>
              <a:cxnLst/>
              <a:rect r="r" b="b" t="t" l="l"/>
              <a:pathLst>
                <a:path h="262451" w="5111753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98283" y="819004"/>
            <a:ext cx="860834" cy="1002427"/>
          </a:xfrm>
          <a:custGeom>
            <a:avLst/>
            <a:gdLst/>
            <a:ahLst/>
            <a:cxnLst/>
            <a:rect r="r" b="b" t="t" l="l"/>
            <a:pathLst>
              <a:path h="1002427" w="860834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490184" y="1167817"/>
            <a:ext cx="8715781" cy="910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33"/>
              </a:lnSpc>
              <a:spcBef>
                <a:spcPct val="0"/>
              </a:spcBef>
            </a:pPr>
            <a:r>
              <a:rPr lang="en-US" b="true" sz="502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Meet the Team (Members)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02438" y="3107803"/>
            <a:ext cx="10308106" cy="4424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59284" indent="-479642" lvl="1">
              <a:lnSpc>
                <a:spcPts val="7020"/>
              </a:lnSpc>
              <a:buFont typeface="Arial"/>
              <a:buChar char="•"/>
            </a:pPr>
            <a:r>
              <a:rPr lang="en-US" sz="44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Abdel-Rahman Gamal Hussein  </a:t>
            </a:r>
          </a:p>
          <a:p>
            <a:pPr algn="l" marL="959284" indent="-479642" lvl="1">
              <a:lnSpc>
                <a:spcPts val="7020"/>
              </a:lnSpc>
              <a:buFont typeface="Arial"/>
              <a:buChar char="•"/>
            </a:pPr>
            <a:r>
              <a:rPr lang="en-US" sz="44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Mahmoud Ahmed Arafa </a:t>
            </a:r>
          </a:p>
          <a:p>
            <a:pPr algn="l" marL="959284" indent="-479642" lvl="1">
              <a:lnSpc>
                <a:spcPts val="7020"/>
              </a:lnSpc>
              <a:buFont typeface="Arial"/>
              <a:buChar char="•"/>
            </a:pPr>
            <a:r>
              <a:rPr lang="en-US" sz="44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Abdullah Abdel-Raheem </a:t>
            </a:r>
          </a:p>
          <a:p>
            <a:pPr algn="l" marL="959284" indent="-479642" lvl="1">
              <a:lnSpc>
                <a:spcPts val="7020"/>
              </a:lnSpc>
              <a:buFont typeface="Arial"/>
              <a:buChar char="•"/>
            </a:pPr>
            <a:r>
              <a:rPr lang="en-US" sz="44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Ali Khaled </a:t>
            </a:r>
          </a:p>
          <a:p>
            <a:pPr algn="l" marL="959284" indent="-479642" lvl="1">
              <a:lnSpc>
                <a:spcPts val="7020"/>
              </a:lnSpc>
              <a:buFont typeface="Arial"/>
              <a:buChar char="•"/>
            </a:pPr>
            <a:r>
              <a:rPr lang="en-US" sz="44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Moaz Reda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1548115" y="2404447"/>
            <a:ext cx="6040374" cy="6040374"/>
          </a:xfrm>
          <a:custGeom>
            <a:avLst/>
            <a:gdLst/>
            <a:ahLst/>
            <a:cxnLst/>
            <a:rect r="r" b="b" t="t" l="l"/>
            <a:pathLst>
              <a:path h="6040374" w="6040374">
                <a:moveTo>
                  <a:pt x="0" y="0"/>
                </a:moveTo>
                <a:lnTo>
                  <a:pt x="6040374" y="0"/>
                </a:lnTo>
                <a:lnTo>
                  <a:pt x="6040374" y="6040374"/>
                </a:lnTo>
                <a:lnTo>
                  <a:pt x="0" y="60403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60343" y="9889125"/>
            <a:ext cx="19408687" cy="996493"/>
            <a:chOff x="0" y="0"/>
            <a:chExt cx="5111753" cy="2624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11753" cy="262451"/>
            </a:xfrm>
            <a:custGeom>
              <a:avLst/>
              <a:gdLst/>
              <a:ahLst/>
              <a:cxnLst/>
              <a:rect r="r" b="b" t="t" l="l"/>
              <a:pathLst>
                <a:path h="262451" w="5111753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398466" y="1079804"/>
            <a:ext cx="860834" cy="1002427"/>
          </a:xfrm>
          <a:custGeom>
            <a:avLst/>
            <a:gdLst/>
            <a:ahLst/>
            <a:cxnLst/>
            <a:rect r="r" b="b" t="t" l="l"/>
            <a:pathLst>
              <a:path h="1002427" w="860834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900125" y="338018"/>
            <a:ext cx="4487750" cy="1340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11012"/>
              </a:lnSpc>
            </a:pPr>
            <a:r>
              <a:rPr lang="en-US" b="true" sz="786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63070" y="1986981"/>
            <a:ext cx="15544421" cy="6430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122679" indent="-561340" lvl="1">
              <a:lnSpc>
                <a:spcPts val="7279"/>
              </a:lnSpc>
              <a:buAutoNum type="arabicPeriod" startAt="1"/>
            </a:pP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Intro</a:t>
            </a: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duction</a:t>
            </a:r>
          </a:p>
          <a:p>
            <a:pPr algn="just" marL="1122679" indent="-561340" lvl="1">
              <a:lnSpc>
                <a:spcPts val="7279"/>
              </a:lnSpc>
              <a:buAutoNum type="arabicPeriod" startAt="1"/>
            </a:pP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Methodology</a:t>
            </a:r>
          </a:p>
          <a:p>
            <a:pPr algn="just" marL="1122679" indent="-561340" lvl="1">
              <a:lnSpc>
                <a:spcPts val="7279"/>
              </a:lnSpc>
              <a:buAutoNum type="arabicPeriod" startAt="1"/>
            </a:pP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Database Normalization</a:t>
            </a:r>
          </a:p>
          <a:p>
            <a:pPr algn="just" marL="1122679" indent="-561340" lvl="1">
              <a:lnSpc>
                <a:spcPts val="7279"/>
              </a:lnSpc>
              <a:buAutoNum type="arabicPeriod" startAt="1"/>
            </a:pP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Schema Architecture</a:t>
            </a:r>
          </a:p>
          <a:p>
            <a:pPr algn="just" marL="1122679" indent="-561340" lvl="1">
              <a:lnSpc>
                <a:spcPts val="7279"/>
              </a:lnSpc>
              <a:buAutoNum type="arabicPeriod" startAt="1"/>
            </a:pP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Entity Relationship Diagram (ERD)</a:t>
            </a:r>
          </a:p>
          <a:p>
            <a:pPr algn="just" marL="1122679" indent="-561340" lvl="1">
              <a:lnSpc>
                <a:spcPts val="7279"/>
              </a:lnSpc>
              <a:buAutoNum type="arabicPeriod" startAt="1"/>
            </a:pP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Implementation &amp; SQL</a:t>
            </a:r>
          </a:p>
          <a:p>
            <a:pPr algn="just" marL="1122679" indent="-561340" lvl="1">
              <a:lnSpc>
                <a:spcPts val="7279"/>
              </a:lnSpc>
              <a:buAutoNum type="arabicPeriod" startAt="1"/>
            </a:pP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Bonus: The Implementation Layer (Web POS)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095697"/>
            <a:ext cx="4595356" cy="5531526"/>
          </a:xfrm>
          <a:custGeom>
            <a:avLst/>
            <a:gdLst/>
            <a:ahLst/>
            <a:cxnLst/>
            <a:rect r="r" b="b" t="t" l="l"/>
            <a:pathLst>
              <a:path h="5531526" w="4595356">
                <a:moveTo>
                  <a:pt x="0" y="0"/>
                </a:moveTo>
                <a:lnTo>
                  <a:pt x="4595356" y="0"/>
                </a:lnTo>
                <a:lnTo>
                  <a:pt x="4595356" y="5531526"/>
                </a:lnTo>
                <a:lnTo>
                  <a:pt x="0" y="55315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356156" y="2306597"/>
            <a:ext cx="7635630" cy="763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90"/>
              </a:lnSpc>
            </a:pPr>
            <a:r>
              <a:rPr lang="en-US" b="true" sz="55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Projec</a:t>
            </a:r>
            <a:r>
              <a:rPr lang="en-US" b="true" sz="55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 Overview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717681" y="3109708"/>
            <a:ext cx="11259267" cy="5516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0598" indent="-290299" lvl="1">
              <a:lnSpc>
                <a:spcPts val="4410"/>
              </a:lnSpc>
              <a:buFont typeface="Arial"/>
              <a:buChar char="•"/>
            </a:pPr>
            <a:r>
              <a:rPr lang="en-US" sz="268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complete local web application for supermarket point-of-sale management. </a:t>
            </a:r>
          </a:p>
          <a:p>
            <a:pPr algn="l" marL="580598" indent="-290299" lvl="1">
              <a:lnSpc>
                <a:spcPts val="4410"/>
              </a:lnSpc>
              <a:buFont typeface="Arial"/>
              <a:buChar char="•"/>
            </a:pPr>
            <a:r>
              <a:rPr lang="en-US" sz="268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Bridges the gap between theoretical ERD design and practical web interface. </a:t>
            </a:r>
          </a:p>
          <a:p>
            <a:pPr algn="l" marL="580598" indent="-290299" lvl="1">
              <a:lnSpc>
                <a:spcPts val="4410"/>
              </a:lnSpc>
              <a:buFont typeface="Arial"/>
              <a:buChar char="•"/>
            </a:pPr>
            <a:r>
              <a:rPr lang="en-US" sz="268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Focuses on daily operations: products, sales, suppliers, and inventory. </a:t>
            </a:r>
          </a:p>
          <a:p>
            <a:pPr algn="l" marL="580598" indent="-290299" lvl="1">
              <a:lnSpc>
                <a:spcPts val="4410"/>
              </a:lnSpc>
              <a:buFont typeface="Arial"/>
              <a:buChar char="•"/>
            </a:pPr>
            <a:r>
              <a:rPr lang="en-US" sz="268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Fully functional local environment (No cloud dependency required). </a:t>
            </a:r>
          </a:p>
          <a:p>
            <a:pPr algn="l" marL="580598" indent="-290299" lvl="1">
              <a:lnSpc>
                <a:spcPts val="4410"/>
              </a:lnSpc>
              <a:buFont typeface="Arial"/>
              <a:buChar char="•"/>
            </a:pPr>
            <a:r>
              <a:rPr lang="en-US" sz="268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Visual Idea: Icon of a supermarket cart linked to a database icon.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560343" y="9889125"/>
            <a:ext cx="19408687" cy="996493"/>
            <a:chOff x="0" y="0"/>
            <a:chExt cx="5111753" cy="2624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11753" cy="262451"/>
            </a:xfrm>
            <a:custGeom>
              <a:avLst/>
              <a:gdLst/>
              <a:ahLst/>
              <a:cxnLst/>
              <a:rect r="r" b="b" t="t" l="l"/>
              <a:pathLst>
                <a:path h="262451" w="5111753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28700" y="8255873"/>
            <a:ext cx="860834" cy="1002427"/>
          </a:xfrm>
          <a:custGeom>
            <a:avLst/>
            <a:gdLst/>
            <a:ahLst/>
            <a:cxnLst/>
            <a:rect r="r" b="b" t="t" l="l"/>
            <a:pathLst>
              <a:path h="1002427" w="860834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671871" y="948267"/>
            <a:ext cx="7635630" cy="976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59"/>
              </a:lnSpc>
            </a:pPr>
            <a:r>
              <a:rPr lang="en-US" b="true" sz="6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</a:t>
            </a:r>
            <a:r>
              <a:rPr lang="en-US" b="true" sz="6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ti</a:t>
            </a:r>
            <a:r>
              <a:rPr lang="en-US" b="true" sz="6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</a:t>
            </a:r>
            <a:r>
              <a:rPr lang="en-US" b="true" sz="6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60343" y="9889125"/>
            <a:ext cx="19408687" cy="996493"/>
            <a:chOff x="0" y="0"/>
            <a:chExt cx="5111753" cy="2624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11753" cy="262451"/>
            </a:xfrm>
            <a:custGeom>
              <a:avLst/>
              <a:gdLst/>
              <a:ahLst/>
              <a:cxnLst/>
              <a:rect r="r" b="b" t="t" l="l"/>
              <a:pathLst>
                <a:path h="262451" w="5111753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1028700"/>
            <a:ext cx="642386" cy="729984"/>
          </a:xfrm>
          <a:custGeom>
            <a:avLst/>
            <a:gdLst/>
            <a:ahLst/>
            <a:cxnLst/>
            <a:rect r="r" b="b" t="t" l="l"/>
            <a:pathLst>
              <a:path h="729984" w="642386">
                <a:moveTo>
                  <a:pt x="0" y="0"/>
                </a:moveTo>
                <a:lnTo>
                  <a:pt x="642386" y="0"/>
                </a:lnTo>
                <a:lnTo>
                  <a:pt x="642386" y="729984"/>
                </a:lnTo>
                <a:lnTo>
                  <a:pt x="0" y="7299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07859" y="1139692"/>
            <a:ext cx="3037713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tudio Shodwe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8816975"/>
            <a:ext cx="4911986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www.reallygreatsite.com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625089" y="948267"/>
            <a:ext cx="9584216" cy="976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59"/>
              </a:lnSpc>
            </a:pPr>
            <a:r>
              <a:rPr lang="en-US" b="true" sz="6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Methodology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32981" y="4016510"/>
            <a:ext cx="9752144" cy="3577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49207" indent="-274603" lvl="1">
              <a:lnSpc>
                <a:spcPts val="3561"/>
              </a:lnSpc>
              <a:spcBef>
                <a:spcPct val="0"/>
              </a:spcBef>
              <a:buFont typeface="Arial"/>
              <a:buChar char="•"/>
            </a:pPr>
            <a:r>
              <a:rPr lang="en-US" sz="25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Requirement Analysis: Identifying 20+</a:t>
            </a:r>
            <a:r>
              <a:rPr lang="en-US" sz="25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retail entities and their business rules.</a:t>
            </a:r>
          </a:p>
          <a:p>
            <a:pPr algn="just" marL="549207" indent="-274603" lvl="1">
              <a:lnSpc>
                <a:spcPts val="3561"/>
              </a:lnSpc>
              <a:spcBef>
                <a:spcPct val="0"/>
              </a:spcBef>
              <a:buFont typeface="Arial"/>
              <a:buChar char="•"/>
            </a:pPr>
            <a:r>
              <a:rPr lang="en-US" sz="25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</a:t>
            </a:r>
            <a:r>
              <a:rPr lang="en-US" sz="25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ceptual Design: Creating the ERD with proper cardinality (1:N, M:N).</a:t>
            </a:r>
          </a:p>
          <a:p>
            <a:pPr algn="just" marL="549207" indent="-274603" lvl="1">
              <a:lnSpc>
                <a:spcPts val="3561"/>
              </a:lnSpc>
              <a:spcBef>
                <a:spcPct val="0"/>
              </a:spcBef>
              <a:buFont typeface="Arial"/>
              <a:buChar char="•"/>
            </a:pPr>
            <a:r>
              <a:rPr lang="en-US" sz="25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Logical Design:</a:t>
            </a:r>
            <a:r>
              <a:rPr lang="en-US" sz="25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Mapping ERD to a Relational Schema.</a:t>
            </a:r>
          </a:p>
          <a:p>
            <a:pPr algn="just" marL="549207" indent="-274603" lvl="1">
              <a:lnSpc>
                <a:spcPts val="3561"/>
              </a:lnSpc>
              <a:spcBef>
                <a:spcPct val="0"/>
              </a:spcBef>
              <a:buFont typeface="Arial"/>
              <a:buChar char="•"/>
            </a:pPr>
            <a:r>
              <a:rPr lang="en-US" sz="25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5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hysical Implementation: Scripting the DB using SQL Server/SQLite with constraints.</a:t>
            </a:r>
          </a:p>
          <a:p>
            <a:pPr algn="just">
              <a:lnSpc>
                <a:spcPts val="3561"/>
              </a:lnSpc>
              <a:spcBef>
                <a:spcPct val="0"/>
              </a:spcBef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6398466" y="8255873"/>
            <a:ext cx="860834" cy="1002427"/>
          </a:xfrm>
          <a:custGeom>
            <a:avLst/>
            <a:gdLst/>
            <a:ahLst/>
            <a:cxnLst/>
            <a:rect r="r" b="b" t="t" l="l"/>
            <a:pathLst>
              <a:path h="1002427" w="860834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2376951"/>
            <a:ext cx="10189179" cy="1320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00"/>
              </a:lnSpc>
            </a:pPr>
            <a:r>
              <a:rPr lang="en-US" sz="5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Database Development Life Cycle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1371190" y="2148725"/>
            <a:ext cx="6344884" cy="6344884"/>
          </a:xfrm>
          <a:custGeom>
            <a:avLst/>
            <a:gdLst/>
            <a:ahLst/>
            <a:cxnLst/>
            <a:rect r="r" b="b" t="t" l="l"/>
            <a:pathLst>
              <a:path h="6344884" w="6344884">
                <a:moveTo>
                  <a:pt x="0" y="0"/>
                </a:moveTo>
                <a:lnTo>
                  <a:pt x="6344884" y="0"/>
                </a:lnTo>
                <a:lnTo>
                  <a:pt x="6344884" y="6344884"/>
                </a:lnTo>
                <a:lnTo>
                  <a:pt x="0" y="63448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163985" y="2007937"/>
            <a:ext cx="6344884" cy="6344884"/>
          </a:xfrm>
          <a:custGeom>
            <a:avLst/>
            <a:gdLst/>
            <a:ahLst/>
            <a:cxnLst/>
            <a:rect r="r" b="b" t="t" l="l"/>
            <a:pathLst>
              <a:path h="6344884" w="6344884">
                <a:moveTo>
                  <a:pt x="0" y="0"/>
                </a:moveTo>
                <a:lnTo>
                  <a:pt x="6344884" y="0"/>
                </a:lnTo>
                <a:lnTo>
                  <a:pt x="6344884" y="6344885"/>
                </a:lnTo>
                <a:lnTo>
                  <a:pt x="0" y="63448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560343" y="9889125"/>
            <a:ext cx="19408687" cy="996493"/>
            <a:chOff x="0" y="0"/>
            <a:chExt cx="5111753" cy="26245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11753" cy="262451"/>
            </a:xfrm>
            <a:custGeom>
              <a:avLst/>
              <a:gdLst/>
              <a:ahLst/>
              <a:cxnLst/>
              <a:rect r="r" b="b" t="t" l="l"/>
              <a:pathLst>
                <a:path h="262451" w="5111753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028700" y="1028700"/>
            <a:ext cx="642386" cy="729984"/>
          </a:xfrm>
          <a:custGeom>
            <a:avLst/>
            <a:gdLst/>
            <a:ahLst/>
            <a:cxnLst/>
            <a:rect r="r" b="b" t="t" l="l"/>
            <a:pathLst>
              <a:path h="729984" w="642386">
                <a:moveTo>
                  <a:pt x="0" y="0"/>
                </a:moveTo>
                <a:lnTo>
                  <a:pt x="642386" y="0"/>
                </a:lnTo>
                <a:lnTo>
                  <a:pt x="642386" y="729984"/>
                </a:lnTo>
                <a:lnTo>
                  <a:pt x="0" y="7299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23228" y="2074612"/>
            <a:ext cx="8115300" cy="1439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90"/>
              </a:lnSpc>
            </a:pPr>
            <a:r>
              <a:rPr lang="en-US" b="true" sz="55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From Raw </a:t>
            </a:r>
            <a:r>
              <a:rPr lang="en-US" b="true" sz="55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to 3rd Normal Fo</a:t>
            </a:r>
            <a:r>
              <a:rPr lang="en-US" b="true" sz="55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rm (3NF)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39293" y="4079237"/>
            <a:ext cx="10182743" cy="3562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28264" indent="-364132" lvl="1">
              <a:lnSpc>
                <a:spcPts val="4722"/>
              </a:lnSpc>
              <a:spcBef>
                <a:spcPct val="0"/>
              </a:spcBef>
              <a:buFont typeface="Arial"/>
              <a:buChar char="•"/>
            </a:pPr>
            <a:r>
              <a:rPr lang="en-US" sz="33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Elimin</a:t>
            </a:r>
            <a:r>
              <a:rPr lang="en-US" sz="33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ating Update, Insertion, and Deletion</a:t>
            </a:r>
            <a:r>
              <a:rPr lang="en-US" sz="33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Anomali</a:t>
            </a:r>
            <a:r>
              <a:rPr lang="en-US" sz="33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es.</a:t>
            </a:r>
          </a:p>
          <a:p>
            <a:pPr algn="just" marL="728264" indent="-364132" lvl="1">
              <a:lnSpc>
                <a:spcPts val="4722"/>
              </a:lnSpc>
              <a:spcBef>
                <a:spcPct val="0"/>
              </a:spcBef>
              <a:buFont typeface="Arial"/>
              <a:buChar char="•"/>
            </a:pPr>
            <a:r>
              <a:rPr lang="en-US" sz="33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Separating Admin, Catalog, and Transactional d</a:t>
            </a:r>
            <a:r>
              <a:rPr lang="en-US" sz="33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ata</a:t>
            </a:r>
            <a:r>
              <a:rPr lang="en-US" sz="33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for better maintenance.</a:t>
            </a:r>
          </a:p>
          <a:p>
            <a:pPr algn="just" marL="728264" indent="-364132" lvl="1">
              <a:lnSpc>
                <a:spcPts val="4722"/>
              </a:lnSpc>
              <a:spcBef>
                <a:spcPct val="0"/>
              </a:spcBef>
              <a:buFont typeface="Arial"/>
              <a:buChar char="•"/>
            </a:pPr>
            <a:r>
              <a:rPr lang="en-US" sz="33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Ensuring each attribute is functionally dependent only on the Primary Key.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6398466" y="8255873"/>
            <a:ext cx="860834" cy="1002427"/>
          </a:xfrm>
          <a:custGeom>
            <a:avLst/>
            <a:gdLst/>
            <a:ahLst/>
            <a:cxnLst/>
            <a:rect r="r" b="b" t="t" l="l"/>
            <a:pathLst>
              <a:path h="1002427" w="860834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081134" y="514906"/>
            <a:ext cx="13514787" cy="1843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9"/>
              </a:lnSpc>
            </a:pPr>
            <a:r>
              <a:rPr lang="en-US" sz="6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Database Normalization</a:t>
            </a:r>
          </a:p>
          <a:p>
            <a:pPr algn="l" marL="0" indent="0" lvl="0">
              <a:lnSpc>
                <a:spcPts val="685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60343" y="9889125"/>
            <a:ext cx="19408687" cy="996493"/>
            <a:chOff x="0" y="0"/>
            <a:chExt cx="5111753" cy="2624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11753" cy="262451"/>
            </a:xfrm>
            <a:custGeom>
              <a:avLst/>
              <a:gdLst/>
              <a:ahLst/>
              <a:cxnLst/>
              <a:rect r="r" b="b" t="t" l="l"/>
              <a:pathLst>
                <a:path h="262451" w="5111753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358500" y="1028700"/>
            <a:ext cx="860834" cy="1002427"/>
          </a:xfrm>
          <a:custGeom>
            <a:avLst/>
            <a:gdLst/>
            <a:ahLst/>
            <a:cxnLst/>
            <a:rect r="r" b="b" t="t" l="l"/>
            <a:pathLst>
              <a:path h="1002427" w="860834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116405" y="553338"/>
            <a:ext cx="11583573" cy="976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59"/>
              </a:lnSpc>
            </a:pPr>
            <a:r>
              <a:rPr lang="en-US" b="true" sz="6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Schem</a:t>
            </a:r>
            <a:r>
              <a:rPr lang="en-US" b="true" sz="6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 Architecture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5132" y="1428287"/>
            <a:ext cx="1391880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59"/>
              </a:lnSpc>
            </a:pPr>
            <a:r>
              <a:rPr lang="en-US" b="true" sz="6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91352" y="2146762"/>
            <a:ext cx="7279764" cy="3059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186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Centralized G</a:t>
            </a:r>
            <a:r>
              <a:rPr lang="en-US" b="true" sz="21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overnance</a:t>
            </a:r>
            <a:r>
              <a:rPr lang="en-US" sz="21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Manages the core hierarchy of the supermarket using branch and department entities.</a:t>
            </a:r>
          </a:p>
          <a:p>
            <a:pPr algn="l">
              <a:lnSpc>
                <a:spcPts val="3060"/>
              </a:lnSpc>
            </a:pPr>
            <a:r>
              <a:rPr lang="en-US" b="true" sz="21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Human Capital Management: </a:t>
            </a:r>
            <a:r>
              <a:rPr lang="en-US" sz="21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Tracks employee data, role assignments, and security permissions.</a:t>
            </a:r>
          </a:p>
          <a:p>
            <a:pPr algn="l">
              <a:lnSpc>
                <a:spcPts val="3060"/>
              </a:lnSpc>
            </a:pPr>
            <a:r>
              <a:rPr lang="en-US" b="true" sz="21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Operational Accountability</a:t>
            </a:r>
            <a:r>
              <a:rPr lang="en-US" sz="21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Utilizes the shift table to record opening_balance and closing_balance, ensuring financial integrity at each register.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02737" y="1619766"/>
            <a:ext cx="5628462" cy="441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Admin &amp; Op</a:t>
            </a: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erations Module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7038" y="5363238"/>
            <a:ext cx="1391880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59"/>
              </a:lnSpc>
            </a:pPr>
            <a:r>
              <a:rPr lang="en-US" b="true" sz="6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91352" y="5915094"/>
            <a:ext cx="7279764" cy="3599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5"/>
              </a:lnSpc>
            </a:pPr>
            <a:r>
              <a:rPr lang="en-US" b="true" sz="2289" spc="-5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Invent</a:t>
            </a:r>
            <a:r>
              <a:rPr lang="en-US" b="true" sz="2289" spc="-5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ory Hierarchy:</a:t>
            </a:r>
            <a:r>
              <a:rPr lang="en-US" sz="2289" spc="-5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Organizes items through a multi-level category system for easier navigation.</a:t>
            </a:r>
          </a:p>
          <a:p>
            <a:pPr algn="l">
              <a:lnSpc>
                <a:spcPts val="3205"/>
              </a:lnSpc>
            </a:pPr>
            <a:r>
              <a:rPr lang="en-US" b="true" sz="2289" spc="-5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Stock Control Logic:</a:t>
            </a:r>
            <a:r>
              <a:rPr lang="en-US" sz="2289" spc="-5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The product table includes a reorder_level attribute to trigger automated supply alertsa</a:t>
            </a:r>
          </a:p>
          <a:p>
            <a:pPr algn="l">
              <a:lnSpc>
                <a:spcPts val="3205"/>
              </a:lnSpc>
            </a:pPr>
            <a:r>
              <a:rPr lang="en-US" b="true" sz="2289" spc="-5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Supplier Integration:</a:t>
            </a:r>
            <a:r>
              <a:rPr lang="en-US" sz="2289" spc="-5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Maintains detailed supplier profiles linked to purchase_order records for seamless procurement.</a:t>
            </a:r>
          </a:p>
          <a:p>
            <a:pPr algn="l">
              <a:lnSpc>
                <a:spcPts val="3205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318467" y="5449863"/>
            <a:ext cx="5877071" cy="441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</a:t>
            </a: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atalog &amp; Supply Chain Module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78753" y="1428287"/>
            <a:ext cx="1391880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59"/>
              </a:lnSpc>
            </a:pPr>
            <a:r>
              <a:rPr lang="en-US" b="true" sz="6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170633" y="2195105"/>
            <a:ext cx="7117367" cy="3821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5"/>
              </a:lnSpc>
            </a:pPr>
            <a:r>
              <a:rPr lang="en-US" b="true" sz="219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Transacti</a:t>
            </a:r>
            <a:r>
              <a:rPr lang="en-US" b="true" sz="219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onal Integrity:</a:t>
            </a:r>
            <a:r>
              <a:rPr lang="en-US" sz="219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Separates sale headers (sale) from line items (sale_item) to achieve 3rd Normal Form (3NF).</a:t>
            </a:r>
          </a:p>
          <a:p>
            <a:pPr algn="l">
              <a:lnSpc>
                <a:spcPts val="3065"/>
              </a:lnSpc>
            </a:pPr>
            <a:r>
              <a:rPr lang="en-US" b="true" sz="219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Financial Precision:</a:t>
            </a:r>
            <a:r>
              <a:rPr lang="en-US" sz="219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Uses DECIMAL(18,2) for all monetary fields to prevent rounding errors in total_amount and tax_amount.</a:t>
            </a:r>
          </a:p>
          <a:p>
            <a:pPr algn="l">
              <a:lnSpc>
                <a:spcPts val="3065"/>
              </a:lnSpc>
            </a:pPr>
            <a:r>
              <a:rPr lang="en-US" b="true" sz="219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Payment Flexibility:</a:t>
            </a:r>
            <a:r>
              <a:rPr lang="en-US" sz="219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Supports multiple pay_method types (Cash, Visa, Points) via the payment entity.</a:t>
            </a:r>
          </a:p>
          <a:p>
            <a:pPr algn="l">
              <a:lnSpc>
                <a:spcPts val="3065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1342263" y="1619766"/>
            <a:ext cx="5837105" cy="441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Sales &amp; Tra</a:t>
            </a: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nsactions Module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78753" y="5570702"/>
            <a:ext cx="1391880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59"/>
              </a:lnSpc>
            </a:pPr>
            <a:r>
              <a:rPr lang="en-US" b="true" sz="6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170633" y="6273193"/>
            <a:ext cx="7117367" cy="3778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5"/>
              </a:lnSpc>
            </a:pPr>
            <a:r>
              <a:rPr lang="en-US" b="true" sz="238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Cust</a:t>
            </a:r>
            <a:r>
              <a:rPr lang="en-US" b="true" sz="238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omer Relationship Management:</a:t>
            </a:r>
            <a:r>
              <a:rPr lang="en-US" sz="238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Tracks customer profiles and their interaction history.</a:t>
            </a:r>
          </a:p>
          <a:p>
            <a:pPr algn="l">
              <a:lnSpc>
                <a:spcPts val="3345"/>
              </a:lnSpc>
            </a:pPr>
            <a:r>
              <a:rPr lang="en-US" b="true" sz="238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Dynamic Loyalty Logic:</a:t>
            </a:r>
            <a:r>
              <a:rPr lang="en-US" sz="238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The loyalty_account table calculates points_balance in real-time based on purchase value.</a:t>
            </a:r>
          </a:p>
          <a:p>
            <a:pPr algn="l">
              <a:lnSpc>
                <a:spcPts val="3345"/>
              </a:lnSpc>
            </a:pPr>
            <a:r>
              <a:rPr lang="en-US" b="true" sz="238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Membership Tiering:</a:t>
            </a:r>
            <a:r>
              <a:rPr lang="en-US" sz="238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Implements automated logic for membership_level (Silver, Gold, Platinum) to drive customer retention.</a:t>
            </a:r>
          </a:p>
          <a:p>
            <a:pPr algn="l">
              <a:lnSpc>
                <a:spcPts val="3345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1382229" y="5793688"/>
            <a:ext cx="5877071" cy="441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Custom</a:t>
            </a: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er Loyalty &amp; Points Module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60343" y="9889125"/>
            <a:ext cx="19408687" cy="996493"/>
            <a:chOff x="0" y="0"/>
            <a:chExt cx="5111753" cy="2624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11753" cy="262451"/>
            </a:xfrm>
            <a:custGeom>
              <a:avLst/>
              <a:gdLst/>
              <a:ahLst/>
              <a:cxnLst/>
              <a:rect r="r" b="b" t="t" l="l"/>
              <a:pathLst>
                <a:path h="262451" w="5111753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0" y="42158"/>
            <a:ext cx="12752483" cy="2162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Entity</a:t>
            </a:r>
            <a:r>
              <a:rPr lang="en-US" b="true" sz="60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Relationship D</a:t>
            </a:r>
            <a:r>
              <a:rPr lang="en-US" b="true" sz="60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</a:t>
            </a:r>
            <a:r>
              <a:rPr lang="en-US" b="true" sz="60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</a:t>
            </a:r>
            <a:r>
              <a:rPr lang="en-US" b="true" sz="60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gr</a:t>
            </a:r>
            <a:r>
              <a:rPr lang="en-US" b="true" sz="60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</a:t>
            </a:r>
            <a:r>
              <a:rPr lang="en-US" b="true" sz="60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 (ERD)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28302" y="1028700"/>
            <a:ext cx="860834" cy="1002427"/>
          </a:xfrm>
          <a:custGeom>
            <a:avLst/>
            <a:gdLst/>
            <a:ahLst/>
            <a:cxnLst/>
            <a:rect r="r" b="b" t="t" l="l"/>
            <a:pathLst>
              <a:path h="1002427" w="860834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349178" y="906053"/>
            <a:ext cx="5610553" cy="3667899"/>
          </a:xfrm>
          <a:custGeom>
            <a:avLst/>
            <a:gdLst/>
            <a:ahLst/>
            <a:cxnLst/>
            <a:rect r="r" b="b" t="t" l="l"/>
            <a:pathLst>
              <a:path h="3667899" w="5610553">
                <a:moveTo>
                  <a:pt x="0" y="0"/>
                </a:moveTo>
                <a:lnTo>
                  <a:pt x="5610554" y="0"/>
                </a:lnTo>
                <a:lnTo>
                  <a:pt x="5610554" y="3667900"/>
                </a:lnTo>
                <a:lnTo>
                  <a:pt x="0" y="36679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346585" y="5143500"/>
            <a:ext cx="6613147" cy="2659524"/>
          </a:xfrm>
          <a:custGeom>
            <a:avLst/>
            <a:gdLst/>
            <a:ahLst/>
            <a:cxnLst/>
            <a:rect r="r" b="b" t="t" l="l"/>
            <a:pathLst>
              <a:path h="2659524" w="6613147">
                <a:moveTo>
                  <a:pt x="0" y="0"/>
                </a:moveTo>
                <a:lnTo>
                  <a:pt x="6613147" y="0"/>
                </a:lnTo>
                <a:lnTo>
                  <a:pt x="6613147" y="2659524"/>
                </a:lnTo>
                <a:lnTo>
                  <a:pt x="0" y="26595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833013" y="5734078"/>
            <a:ext cx="4109333" cy="3693867"/>
          </a:xfrm>
          <a:custGeom>
            <a:avLst/>
            <a:gdLst/>
            <a:ahLst/>
            <a:cxnLst/>
            <a:rect r="r" b="b" t="t" l="l"/>
            <a:pathLst>
              <a:path h="3693867" w="4109333">
                <a:moveTo>
                  <a:pt x="0" y="0"/>
                </a:moveTo>
                <a:lnTo>
                  <a:pt x="4109332" y="0"/>
                </a:lnTo>
                <a:lnTo>
                  <a:pt x="4109332" y="3693867"/>
                </a:lnTo>
                <a:lnTo>
                  <a:pt x="0" y="36938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20652" y="5697263"/>
            <a:ext cx="4974244" cy="3730683"/>
          </a:xfrm>
          <a:custGeom>
            <a:avLst/>
            <a:gdLst/>
            <a:ahLst/>
            <a:cxnLst/>
            <a:rect r="r" b="b" t="t" l="l"/>
            <a:pathLst>
              <a:path h="3730683" w="4974244">
                <a:moveTo>
                  <a:pt x="0" y="0"/>
                </a:moveTo>
                <a:lnTo>
                  <a:pt x="4974244" y="0"/>
                </a:lnTo>
                <a:lnTo>
                  <a:pt x="4974244" y="3730682"/>
                </a:lnTo>
                <a:lnTo>
                  <a:pt x="0" y="373068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69351" y="2320943"/>
            <a:ext cx="7282323" cy="723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94"/>
              </a:lnSpc>
              <a:spcBef>
                <a:spcPct val="0"/>
              </a:spcBef>
            </a:pPr>
            <a:r>
              <a:rPr lang="en-US" sz="406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  </a:t>
            </a:r>
            <a:r>
              <a:rPr lang="en-US" sz="406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Conceptual Design       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302" y="3197163"/>
            <a:ext cx="10533188" cy="2075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7"/>
              </a:lnSpc>
              <a:spcBef>
                <a:spcPct val="0"/>
              </a:spcBef>
            </a:pPr>
            <a:r>
              <a:rPr lang="en-US" sz="295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Points:</a:t>
            </a:r>
          </a:p>
          <a:p>
            <a:pPr algn="l" marL="638125" indent="-319063" lvl="1">
              <a:lnSpc>
                <a:spcPts val="4137"/>
              </a:lnSpc>
              <a:buFont typeface="Arial"/>
              <a:buChar char="•"/>
            </a:pPr>
            <a:r>
              <a:rPr lang="en-US" sz="295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20+ Entities (Employees, Products, Sales, Suppliers...).</a:t>
            </a:r>
          </a:p>
          <a:p>
            <a:pPr algn="l" marL="638125" indent="-319063" lvl="1">
              <a:lnSpc>
                <a:spcPts val="4137"/>
              </a:lnSpc>
              <a:buFont typeface="Arial"/>
              <a:buChar char="•"/>
            </a:pPr>
            <a:r>
              <a:rPr lang="en-US" sz="295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Complex Cardinality (1:N for Sales, M:N for Discounts).</a:t>
            </a:r>
          </a:p>
          <a:p>
            <a:pPr algn="l" marL="638125" indent="-319063" lvl="1">
              <a:lnSpc>
                <a:spcPts val="4137"/>
              </a:lnSpc>
              <a:buFont typeface="Arial"/>
              <a:buChar char="•"/>
            </a:pPr>
            <a:r>
              <a:rPr lang="en-US" sz="295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Participation Constraints (Mandatory/Optional).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60343" y="9889125"/>
            <a:ext cx="19408687" cy="996493"/>
            <a:chOff x="0" y="0"/>
            <a:chExt cx="5111753" cy="2624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11753" cy="262451"/>
            </a:xfrm>
            <a:custGeom>
              <a:avLst/>
              <a:gdLst/>
              <a:ahLst/>
              <a:cxnLst/>
              <a:rect r="r" b="b" t="t" l="l"/>
              <a:pathLst>
                <a:path h="262451" w="5111753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0" y="42158"/>
            <a:ext cx="17745352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Full Entity</a:t>
            </a:r>
            <a:r>
              <a:rPr lang="en-US" b="true" sz="60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Relationship D</a:t>
            </a:r>
            <a:r>
              <a:rPr lang="en-US" b="true" sz="60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</a:t>
            </a:r>
            <a:r>
              <a:rPr lang="en-US" b="true" sz="60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</a:t>
            </a:r>
            <a:r>
              <a:rPr lang="en-US" b="true" sz="60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gr</a:t>
            </a:r>
            <a:r>
              <a:rPr lang="en-US" b="true" sz="60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</a:t>
            </a:r>
            <a:r>
              <a:rPr lang="en-US" b="true" sz="60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 (ERD)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28302" y="1028700"/>
            <a:ext cx="860834" cy="1002427"/>
          </a:xfrm>
          <a:custGeom>
            <a:avLst/>
            <a:gdLst/>
            <a:ahLst/>
            <a:cxnLst/>
            <a:rect r="r" b="b" t="t" l="l"/>
            <a:pathLst>
              <a:path h="1002427" w="860834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889136" y="1318508"/>
            <a:ext cx="14188744" cy="8289083"/>
          </a:xfrm>
          <a:custGeom>
            <a:avLst/>
            <a:gdLst/>
            <a:ahLst/>
            <a:cxnLst/>
            <a:rect r="r" b="b" t="t" l="l"/>
            <a:pathLst>
              <a:path h="8289083" w="14188744">
                <a:moveTo>
                  <a:pt x="0" y="0"/>
                </a:moveTo>
                <a:lnTo>
                  <a:pt x="14188744" y="0"/>
                </a:lnTo>
                <a:lnTo>
                  <a:pt x="14188744" y="8289083"/>
                </a:lnTo>
                <a:lnTo>
                  <a:pt x="0" y="82890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3781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60343" y="9889125"/>
            <a:ext cx="19408687" cy="996493"/>
            <a:chOff x="0" y="0"/>
            <a:chExt cx="5111753" cy="2624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11753" cy="262451"/>
            </a:xfrm>
            <a:custGeom>
              <a:avLst/>
              <a:gdLst/>
              <a:ahLst/>
              <a:cxnLst/>
              <a:rect r="r" b="b" t="t" l="l"/>
              <a:pathLst>
                <a:path h="262451" w="5111753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800593" y="1300905"/>
            <a:ext cx="4894028" cy="1047681"/>
            <a:chOff x="0" y="0"/>
            <a:chExt cx="1288962" cy="27593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8962" cy="275932"/>
            </a:xfrm>
            <a:custGeom>
              <a:avLst/>
              <a:gdLst/>
              <a:ahLst/>
              <a:cxnLst/>
              <a:rect r="r" b="b" t="t" l="l"/>
              <a:pathLst>
                <a:path h="275932" w="1288962">
                  <a:moveTo>
                    <a:pt x="137966" y="0"/>
                  </a:moveTo>
                  <a:lnTo>
                    <a:pt x="1150996" y="0"/>
                  </a:lnTo>
                  <a:cubicBezTo>
                    <a:pt x="1227193" y="0"/>
                    <a:pt x="1288962" y="61770"/>
                    <a:pt x="1288962" y="137966"/>
                  </a:cubicBezTo>
                  <a:lnTo>
                    <a:pt x="1288962" y="137966"/>
                  </a:lnTo>
                  <a:cubicBezTo>
                    <a:pt x="1288962" y="174557"/>
                    <a:pt x="1274426" y="209649"/>
                    <a:pt x="1248553" y="235523"/>
                  </a:cubicBezTo>
                  <a:cubicBezTo>
                    <a:pt x="1222679" y="261397"/>
                    <a:pt x="1187587" y="275932"/>
                    <a:pt x="1150996" y="275932"/>
                  </a:cubicBezTo>
                  <a:lnTo>
                    <a:pt x="137966" y="275932"/>
                  </a:lnTo>
                  <a:cubicBezTo>
                    <a:pt x="61770" y="275932"/>
                    <a:pt x="0" y="214163"/>
                    <a:pt x="0" y="137966"/>
                  </a:cubicBezTo>
                  <a:lnTo>
                    <a:pt x="0" y="137966"/>
                  </a:lnTo>
                  <a:cubicBezTo>
                    <a:pt x="0" y="61770"/>
                    <a:pt x="61770" y="0"/>
                    <a:pt x="137966" y="0"/>
                  </a:cubicBezTo>
                  <a:close/>
                </a:path>
              </a:pathLst>
            </a:custGeom>
            <a:ln w="66675" cap="rnd">
              <a:solidFill>
                <a:srgbClr val="5CA3B2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1288962" cy="3426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32614" y="324329"/>
            <a:ext cx="15373879" cy="976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59"/>
              </a:lnSpc>
              <a:spcBef>
                <a:spcPct val="0"/>
              </a:spcBef>
            </a:pPr>
            <a:r>
              <a:rPr lang="en-US" b="true" sz="6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Imp</a:t>
            </a:r>
            <a:r>
              <a:rPr lang="en-US" b="true" sz="6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le</a:t>
            </a:r>
            <a:r>
              <a:rPr lang="en-US" b="true" sz="6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me</a:t>
            </a:r>
            <a:r>
              <a:rPr lang="en-US" b="true" sz="6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</a:t>
            </a:r>
            <a:r>
              <a:rPr lang="en-US" b="true" sz="6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</a:t>
            </a:r>
            <a:r>
              <a:rPr lang="en-US" b="true" sz="6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at</a:t>
            </a:r>
            <a:r>
              <a:rPr lang="en-US" b="true" sz="6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ion &amp; SQL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04253" y="1300905"/>
            <a:ext cx="4894028" cy="1047681"/>
            <a:chOff x="0" y="0"/>
            <a:chExt cx="1288962" cy="2759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8962" cy="275932"/>
            </a:xfrm>
            <a:custGeom>
              <a:avLst/>
              <a:gdLst/>
              <a:ahLst/>
              <a:cxnLst/>
              <a:rect r="r" b="b" t="t" l="l"/>
              <a:pathLst>
                <a:path h="275932" w="1288962">
                  <a:moveTo>
                    <a:pt x="137966" y="0"/>
                  </a:moveTo>
                  <a:lnTo>
                    <a:pt x="1150996" y="0"/>
                  </a:lnTo>
                  <a:cubicBezTo>
                    <a:pt x="1227193" y="0"/>
                    <a:pt x="1288962" y="61770"/>
                    <a:pt x="1288962" y="137966"/>
                  </a:cubicBezTo>
                  <a:lnTo>
                    <a:pt x="1288962" y="137966"/>
                  </a:lnTo>
                  <a:cubicBezTo>
                    <a:pt x="1288962" y="174557"/>
                    <a:pt x="1274426" y="209649"/>
                    <a:pt x="1248553" y="235523"/>
                  </a:cubicBezTo>
                  <a:cubicBezTo>
                    <a:pt x="1222679" y="261397"/>
                    <a:pt x="1187587" y="275932"/>
                    <a:pt x="1150996" y="275932"/>
                  </a:cubicBezTo>
                  <a:lnTo>
                    <a:pt x="137966" y="275932"/>
                  </a:lnTo>
                  <a:cubicBezTo>
                    <a:pt x="61770" y="275932"/>
                    <a:pt x="0" y="214163"/>
                    <a:pt x="0" y="137966"/>
                  </a:cubicBezTo>
                  <a:lnTo>
                    <a:pt x="0" y="137966"/>
                  </a:lnTo>
                  <a:cubicBezTo>
                    <a:pt x="0" y="61770"/>
                    <a:pt x="61770" y="0"/>
                    <a:pt x="137966" y="0"/>
                  </a:cubicBezTo>
                  <a:close/>
                </a:path>
              </a:pathLst>
            </a:custGeom>
            <a:ln w="66675" cap="rnd">
              <a:solidFill>
                <a:srgbClr val="5CA3B2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1288962" cy="3426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208167" y="1383750"/>
            <a:ext cx="4286201" cy="720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Physical Implementation</a:t>
            </a:r>
          </a:p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(SQL</a:t>
            </a: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Server)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71082" y="2377245"/>
            <a:ext cx="7453644" cy="3239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6"/>
              </a:lnSpc>
            </a:pPr>
            <a:r>
              <a:rPr lang="en-US" b="true" sz="1854" spc="-1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Engine: </a:t>
            </a:r>
            <a:r>
              <a:rPr lang="en-US" sz="1854" spc="-1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SQ</a:t>
            </a:r>
            <a:r>
              <a:rPr lang="en-US" sz="1854" spc="-1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 Server Relational Engine.</a:t>
            </a:r>
          </a:p>
          <a:p>
            <a:pPr algn="l">
              <a:lnSpc>
                <a:spcPts val="2596"/>
              </a:lnSpc>
            </a:pPr>
            <a:r>
              <a:rPr lang="en-US" b="true" sz="1854" spc="-1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Multilingual Support:</a:t>
            </a:r>
            <a:r>
              <a:rPr lang="en-US" sz="1854" spc="-1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Utilizing NVARCHAR for all string fields (Names, Addresses) to support Arabic and English data without encoding issues.</a:t>
            </a:r>
          </a:p>
          <a:p>
            <a:pPr algn="l">
              <a:lnSpc>
                <a:spcPts val="2596"/>
              </a:lnSpc>
            </a:pPr>
            <a:r>
              <a:rPr lang="en-US" b="true" sz="1854" spc="-1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Financial Precision:</a:t>
            </a:r>
            <a:r>
              <a:rPr lang="en-US" sz="1854" spc="-1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Using DECIMAL(18,2) for total_amount and unit_price to ensure 100% accuracy in calculations, avoiding the rounding errors of 'Float' types.</a:t>
            </a:r>
          </a:p>
          <a:p>
            <a:pPr algn="l">
              <a:lnSpc>
                <a:spcPts val="2596"/>
              </a:lnSpc>
            </a:pPr>
            <a:r>
              <a:rPr lang="en-US" b="true" sz="1854" spc="-1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Temporal Accuracy:</a:t>
            </a:r>
            <a:r>
              <a:rPr lang="en-US" sz="1854" spc="-1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Using DATETIME2(0) for sale_date and shift logs to achieve precise auditing of every transaction</a:t>
            </a:r>
          </a:p>
          <a:p>
            <a:pPr algn="l">
              <a:lnSpc>
                <a:spcPts val="2596"/>
              </a:lnSpc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904253" y="5426907"/>
            <a:ext cx="4894028" cy="767569"/>
            <a:chOff x="0" y="0"/>
            <a:chExt cx="1288962" cy="20215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88962" cy="202158"/>
            </a:xfrm>
            <a:custGeom>
              <a:avLst/>
              <a:gdLst/>
              <a:ahLst/>
              <a:cxnLst/>
              <a:rect r="r" b="b" t="t" l="l"/>
              <a:pathLst>
                <a:path h="202158" w="1288962">
                  <a:moveTo>
                    <a:pt x="101079" y="0"/>
                  </a:moveTo>
                  <a:lnTo>
                    <a:pt x="1187883" y="0"/>
                  </a:lnTo>
                  <a:cubicBezTo>
                    <a:pt x="1214691" y="0"/>
                    <a:pt x="1240401" y="10649"/>
                    <a:pt x="1259357" y="29605"/>
                  </a:cubicBezTo>
                  <a:cubicBezTo>
                    <a:pt x="1278313" y="48561"/>
                    <a:pt x="1288962" y="74271"/>
                    <a:pt x="1288962" y="101079"/>
                  </a:cubicBezTo>
                  <a:lnTo>
                    <a:pt x="1288962" y="101079"/>
                  </a:lnTo>
                  <a:cubicBezTo>
                    <a:pt x="1288962" y="156903"/>
                    <a:pt x="1243708" y="202158"/>
                    <a:pt x="1187883" y="202158"/>
                  </a:cubicBezTo>
                  <a:lnTo>
                    <a:pt x="101079" y="202158"/>
                  </a:lnTo>
                  <a:cubicBezTo>
                    <a:pt x="74271" y="202158"/>
                    <a:pt x="48561" y="191509"/>
                    <a:pt x="29605" y="172553"/>
                  </a:cubicBezTo>
                  <a:cubicBezTo>
                    <a:pt x="10649" y="153597"/>
                    <a:pt x="0" y="127887"/>
                    <a:pt x="0" y="101079"/>
                  </a:cubicBezTo>
                  <a:lnTo>
                    <a:pt x="0" y="101079"/>
                  </a:lnTo>
                  <a:cubicBezTo>
                    <a:pt x="0" y="74271"/>
                    <a:pt x="10649" y="48561"/>
                    <a:pt x="29605" y="29605"/>
                  </a:cubicBezTo>
                  <a:cubicBezTo>
                    <a:pt x="48561" y="10649"/>
                    <a:pt x="74271" y="0"/>
                    <a:pt x="101079" y="0"/>
                  </a:cubicBezTo>
                  <a:close/>
                </a:path>
              </a:pathLst>
            </a:custGeom>
            <a:ln w="66675" cap="rnd">
              <a:solidFill>
                <a:srgbClr val="5CA3B2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1288962" cy="2688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155767" y="5556691"/>
            <a:ext cx="4391001" cy="368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Integrity &amp; C</a:t>
            </a: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onstraints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71082" y="6217562"/>
            <a:ext cx="7453644" cy="3887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b="true" sz="1850" spc="-1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Refe</a:t>
            </a:r>
            <a:r>
              <a:rPr lang="en-US" b="true" sz="1850" spc="-1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rential Integrity:</a:t>
            </a:r>
            <a:r>
              <a:rPr lang="en-US" sz="1850" spc="-1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Implementation of FOREIGN KEY constraints with ON DELETE NO ACTION to prevent accidental loss of historical sales data.</a:t>
            </a:r>
          </a:p>
          <a:p>
            <a:pPr algn="l">
              <a:lnSpc>
                <a:spcPts val="2590"/>
              </a:lnSpc>
            </a:pPr>
            <a:r>
              <a:rPr lang="en-US" b="true" sz="1850" spc="-1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Domain Integrity (CHECK): </a:t>
            </a:r>
            <a:r>
              <a:rPr lang="en-US" sz="1850" spc="-1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SQL-level validation to ensure business rules (e.g., sale_item.qty &gt; 0 and product.sell_price &gt; cost_price).</a:t>
            </a:r>
          </a:p>
          <a:p>
            <a:pPr algn="l">
              <a:lnSpc>
                <a:spcPts val="2590"/>
              </a:lnSpc>
            </a:pPr>
            <a:r>
              <a:rPr lang="en-US" b="true" sz="1850" spc="-1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Entity Integrity (UNIQUE):</a:t>
            </a:r>
            <a:r>
              <a:rPr lang="en-US" sz="1850" spc="-1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Enforcing business uniqueness for barcode, national_id, and card_number to prevent duplicate identities.</a:t>
            </a:r>
          </a:p>
          <a:p>
            <a:pPr algn="l">
              <a:lnSpc>
                <a:spcPts val="2590"/>
              </a:lnSpc>
            </a:pPr>
            <a:r>
              <a:rPr lang="en-US" b="true" sz="1850" spc="-1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Default Values:</a:t>
            </a:r>
            <a:r>
              <a:rPr lang="en-US" sz="1850" spc="-1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Using GETDATE() and is_active = 1 for automated status management.</a:t>
            </a:r>
          </a:p>
          <a:p>
            <a:pPr algn="l">
              <a:lnSpc>
                <a:spcPts val="2590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0281467" y="1431019"/>
            <a:ext cx="4047018" cy="720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Advanced SQL Queries (The Power of</a:t>
            </a: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JOINs)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800593" y="5636358"/>
            <a:ext cx="4894028" cy="1047681"/>
            <a:chOff x="0" y="0"/>
            <a:chExt cx="1288962" cy="27593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88962" cy="275932"/>
            </a:xfrm>
            <a:custGeom>
              <a:avLst/>
              <a:gdLst/>
              <a:ahLst/>
              <a:cxnLst/>
              <a:rect r="r" b="b" t="t" l="l"/>
              <a:pathLst>
                <a:path h="275932" w="1288962">
                  <a:moveTo>
                    <a:pt x="137966" y="0"/>
                  </a:moveTo>
                  <a:lnTo>
                    <a:pt x="1150996" y="0"/>
                  </a:lnTo>
                  <a:cubicBezTo>
                    <a:pt x="1227193" y="0"/>
                    <a:pt x="1288962" y="61770"/>
                    <a:pt x="1288962" y="137966"/>
                  </a:cubicBezTo>
                  <a:lnTo>
                    <a:pt x="1288962" y="137966"/>
                  </a:lnTo>
                  <a:cubicBezTo>
                    <a:pt x="1288962" y="174557"/>
                    <a:pt x="1274426" y="209649"/>
                    <a:pt x="1248553" y="235523"/>
                  </a:cubicBezTo>
                  <a:cubicBezTo>
                    <a:pt x="1222679" y="261397"/>
                    <a:pt x="1187587" y="275932"/>
                    <a:pt x="1150996" y="275932"/>
                  </a:cubicBezTo>
                  <a:lnTo>
                    <a:pt x="137966" y="275932"/>
                  </a:lnTo>
                  <a:cubicBezTo>
                    <a:pt x="61770" y="275932"/>
                    <a:pt x="0" y="214163"/>
                    <a:pt x="0" y="137966"/>
                  </a:cubicBezTo>
                  <a:lnTo>
                    <a:pt x="0" y="137966"/>
                  </a:lnTo>
                  <a:cubicBezTo>
                    <a:pt x="0" y="61770"/>
                    <a:pt x="61770" y="0"/>
                    <a:pt x="137966" y="0"/>
                  </a:cubicBezTo>
                  <a:close/>
                </a:path>
              </a:pathLst>
            </a:custGeom>
            <a:ln w="66675" cap="rnd">
              <a:solidFill>
                <a:srgbClr val="5CA3B2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1288962" cy="3426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9800593" y="2396682"/>
            <a:ext cx="7626857" cy="3239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b="true" sz="1850" spc="-1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Multi-Tabl</a:t>
            </a:r>
            <a:r>
              <a:rPr lang="en-US" b="true" sz="1850" spc="-1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 Joins: </a:t>
            </a:r>
            <a:r>
              <a:rPr lang="en-US" sz="1850" spc="-1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Linking sale ➔ sale_item ➔ product ➔ category to generate detailed performance reports.</a:t>
            </a:r>
          </a:p>
          <a:p>
            <a:pPr algn="l">
              <a:lnSpc>
                <a:spcPts val="2590"/>
              </a:lnSpc>
            </a:pPr>
            <a:r>
              <a:rPr lang="en-US" b="true" sz="1850" spc="-1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Aggregation &amp; Logic:</a:t>
            </a:r>
            <a:r>
              <a:rPr lang="en-US" sz="1850" spc="-1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Using GROUP BY and HAVING to isolate products where current_qty &lt; reorder_level for automated inventory alerts.</a:t>
            </a:r>
          </a:p>
          <a:p>
            <a:pPr algn="l">
              <a:lnSpc>
                <a:spcPts val="2590"/>
              </a:lnSpc>
            </a:pPr>
            <a:r>
              <a:rPr lang="en-US" b="true" sz="1850" spc="-1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Subqueries &amp; CTEs:</a:t>
            </a:r>
            <a:r>
              <a:rPr lang="en-US" sz="1850" spc="-1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Calculating "Branch Performance" by comparing individual sale totals against branch-wide averages.</a:t>
            </a:r>
          </a:p>
          <a:p>
            <a:pPr algn="l">
              <a:lnSpc>
                <a:spcPts val="2590"/>
              </a:lnSpc>
            </a:pPr>
            <a:r>
              <a:rPr lang="en-US" b="true" sz="1850" spc="-1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Complex Filtering: </a:t>
            </a:r>
            <a:r>
              <a:rPr lang="en-US" sz="1850" spc="-1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Using WHERE clauses for dynamic date-range reporting (Daily/Monthly revenue).</a:t>
            </a:r>
          </a:p>
          <a:p>
            <a:pPr algn="l">
              <a:lnSpc>
                <a:spcPts val="2590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9983662" y="5769708"/>
            <a:ext cx="4527891" cy="720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Transactiona</a:t>
            </a: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 Security &amp; Performance (Add-on)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800593" y="6836438"/>
            <a:ext cx="7334260" cy="3239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b="true" sz="1850" spc="-1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ACID Pr</a:t>
            </a:r>
            <a:r>
              <a:rPr lang="en-US" b="true" sz="1850" spc="-1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operties: </a:t>
            </a:r>
            <a:r>
              <a:rPr lang="en-US" sz="1850" spc="-1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Ensuring all sales transactions either complete fully or roll back (Atomic operations), especially when updating loyalty_points and inventory_movement simultaneously.</a:t>
            </a:r>
          </a:p>
          <a:p>
            <a:pPr algn="l">
              <a:lnSpc>
                <a:spcPts val="2590"/>
              </a:lnSpc>
            </a:pPr>
            <a:r>
              <a:rPr lang="en-US" b="true" sz="1850" spc="-1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Indexing Strategy:</a:t>
            </a:r>
            <a:r>
              <a:rPr lang="en-US" sz="1850" spc="-1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Creating INDEXES on high-traffic columns like barcode and sale_date to reduce query response time from seconds to milliseconds.</a:t>
            </a:r>
          </a:p>
          <a:p>
            <a:pPr algn="l">
              <a:lnSpc>
                <a:spcPts val="2590"/>
              </a:lnSpc>
            </a:pPr>
            <a:r>
              <a:rPr lang="en-US" b="true" sz="1850" spc="-1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Seeding:</a:t>
            </a:r>
            <a:r>
              <a:rPr lang="en-US" sz="1850" spc="-1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Custom SQL scripts to populate the system with realistic data for stress testing and demonstration.</a:t>
            </a:r>
          </a:p>
          <a:p>
            <a:pPr algn="l">
              <a:lnSpc>
                <a:spcPts val="2590"/>
              </a:lnSpc>
            </a:pP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6398466" y="1079804"/>
            <a:ext cx="860834" cy="1002427"/>
          </a:xfrm>
          <a:custGeom>
            <a:avLst/>
            <a:gdLst/>
            <a:ahLst/>
            <a:cxnLst/>
            <a:rect r="r" b="b" t="t" l="l"/>
            <a:pathLst>
              <a:path h="1002427" w="860834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60343" y="9889125"/>
            <a:ext cx="19408687" cy="996493"/>
            <a:chOff x="0" y="0"/>
            <a:chExt cx="5111753" cy="2624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11753" cy="262451"/>
            </a:xfrm>
            <a:custGeom>
              <a:avLst/>
              <a:gdLst/>
              <a:ahLst/>
              <a:cxnLst/>
              <a:rect r="r" b="b" t="t" l="l"/>
              <a:pathLst>
                <a:path h="262451" w="5111753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290949" y="360433"/>
            <a:ext cx="11704067" cy="183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7140"/>
              </a:lnSpc>
              <a:spcBef>
                <a:spcPct val="0"/>
              </a:spcBef>
            </a:pPr>
            <a:r>
              <a:rPr lang="en-US" b="true" sz="5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Bonus: The</a:t>
            </a:r>
            <a:r>
              <a:rPr lang="en-US" b="true" sz="51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51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Imp</a:t>
            </a:r>
            <a:r>
              <a:rPr lang="en-US" b="true" sz="51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le</a:t>
            </a:r>
            <a:r>
              <a:rPr lang="en-US" b="true" sz="51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me</a:t>
            </a:r>
            <a:r>
              <a:rPr lang="en-US" b="true" sz="51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</a:t>
            </a:r>
            <a:r>
              <a:rPr lang="en-US" b="true" sz="51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tat</a:t>
            </a:r>
            <a:r>
              <a:rPr lang="en-US" b="true" sz="51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</a:t>
            </a:r>
            <a:r>
              <a:rPr lang="en-US" b="true" sz="51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</a:t>
            </a:r>
            <a:r>
              <a:rPr lang="en-US" b="true" sz="51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</a:t>
            </a:r>
            <a:r>
              <a:rPr lang="en-US" b="true" sz="51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Layer (Web POS)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302" y="3307468"/>
            <a:ext cx="5093371" cy="5073466"/>
            <a:chOff x="0" y="0"/>
            <a:chExt cx="1341464" cy="133622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41464" cy="1336222"/>
            </a:xfrm>
            <a:custGeom>
              <a:avLst/>
              <a:gdLst/>
              <a:ahLst/>
              <a:cxnLst/>
              <a:rect r="r" b="b" t="t" l="l"/>
              <a:pathLst>
                <a:path h="1336222" w="1341464">
                  <a:moveTo>
                    <a:pt x="77520" y="0"/>
                  </a:moveTo>
                  <a:lnTo>
                    <a:pt x="1263944" y="0"/>
                  </a:lnTo>
                  <a:cubicBezTo>
                    <a:pt x="1306757" y="0"/>
                    <a:pt x="1341464" y="34707"/>
                    <a:pt x="1341464" y="77520"/>
                  </a:cubicBezTo>
                  <a:lnTo>
                    <a:pt x="1341464" y="1258702"/>
                  </a:lnTo>
                  <a:cubicBezTo>
                    <a:pt x="1341464" y="1279261"/>
                    <a:pt x="1333297" y="1298979"/>
                    <a:pt x="1318759" y="1313516"/>
                  </a:cubicBezTo>
                  <a:cubicBezTo>
                    <a:pt x="1304221" y="1328054"/>
                    <a:pt x="1284504" y="1336222"/>
                    <a:pt x="1263944" y="1336222"/>
                  </a:cubicBezTo>
                  <a:lnTo>
                    <a:pt x="77520" y="1336222"/>
                  </a:lnTo>
                  <a:cubicBezTo>
                    <a:pt x="56960" y="1336222"/>
                    <a:pt x="37243" y="1328054"/>
                    <a:pt x="22705" y="1313516"/>
                  </a:cubicBezTo>
                  <a:cubicBezTo>
                    <a:pt x="8167" y="1298979"/>
                    <a:pt x="0" y="1279261"/>
                    <a:pt x="0" y="1258702"/>
                  </a:cubicBezTo>
                  <a:lnTo>
                    <a:pt x="0" y="77520"/>
                  </a:lnTo>
                  <a:cubicBezTo>
                    <a:pt x="0" y="56960"/>
                    <a:pt x="8167" y="37243"/>
                    <a:pt x="22705" y="22705"/>
                  </a:cubicBezTo>
                  <a:cubicBezTo>
                    <a:pt x="37243" y="8167"/>
                    <a:pt x="56960" y="0"/>
                    <a:pt x="77520" y="0"/>
                  </a:cubicBezTo>
                  <a:close/>
                </a:path>
              </a:pathLst>
            </a:custGeom>
            <a:ln w="66675" cap="rnd">
              <a:solidFill>
                <a:srgbClr val="5CA3B2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341464" cy="14028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596297" y="3307468"/>
            <a:ext cx="5093371" cy="5073466"/>
            <a:chOff x="0" y="0"/>
            <a:chExt cx="1341464" cy="133622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41464" cy="1336222"/>
            </a:xfrm>
            <a:custGeom>
              <a:avLst/>
              <a:gdLst/>
              <a:ahLst/>
              <a:cxnLst/>
              <a:rect r="r" b="b" t="t" l="l"/>
              <a:pathLst>
                <a:path h="1336222" w="1341464">
                  <a:moveTo>
                    <a:pt x="77520" y="0"/>
                  </a:moveTo>
                  <a:lnTo>
                    <a:pt x="1263944" y="0"/>
                  </a:lnTo>
                  <a:cubicBezTo>
                    <a:pt x="1306757" y="0"/>
                    <a:pt x="1341464" y="34707"/>
                    <a:pt x="1341464" y="77520"/>
                  </a:cubicBezTo>
                  <a:lnTo>
                    <a:pt x="1341464" y="1258702"/>
                  </a:lnTo>
                  <a:cubicBezTo>
                    <a:pt x="1341464" y="1279261"/>
                    <a:pt x="1333297" y="1298979"/>
                    <a:pt x="1318759" y="1313516"/>
                  </a:cubicBezTo>
                  <a:cubicBezTo>
                    <a:pt x="1304221" y="1328054"/>
                    <a:pt x="1284504" y="1336222"/>
                    <a:pt x="1263944" y="1336222"/>
                  </a:cubicBezTo>
                  <a:lnTo>
                    <a:pt x="77520" y="1336222"/>
                  </a:lnTo>
                  <a:cubicBezTo>
                    <a:pt x="56960" y="1336222"/>
                    <a:pt x="37243" y="1328054"/>
                    <a:pt x="22705" y="1313516"/>
                  </a:cubicBezTo>
                  <a:cubicBezTo>
                    <a:pt x="8167" y="1298979"/>
                    <a:pt x="0" y="1279261"/>
                    <a:pt x="0" y="1258702"/>
                  </a:cubicBezTo>
                  <a:lnTo>
                    <a:pt x="0" y="77520"/>
                  </a:lnTo>
                  <a:cubicBezTo>
                    <a:pt x="0" y="56960"/>
                    <a:pt x="8167" y="37243"/>
                    <a:pt x="22705" y="22705"/>
                  </a:cubicBezTo>
                  <a:cubicBezTo>
                    <a:pt x="37243" y="8167"/>
                    <a:pt x="56960" y="0"/>
                    <a:pt x="77520" y="0"/>
                  </a:cubicBezTo>
                  <a:close/>
                </a:path>
              </a:pathLst>
            </a:custGeom>
            <a:ln w="66675" cap="rnd">
              <a:solidFill>
                <a:srgbClr val="5CA3B2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1341464" cy="14028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165111" y="3307468"/>
            <a:ext cx="5093371" cy="5073466"/>
            <a:chOff x="0" y="0"/>
            <a:chExt cx="1341464" cy="133622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41464" cy="1336222"/>
            </a:xfrm>
            <a:custGeom>
              <a:avLst/>
              <a:gdLst/>
              <a:ahLst/>
              <a:cxnLst/>
              <a:rect r="r" b="b" t="t" l="l"/>
              <a:pathLst>
                <a:path h="1336222" w="1341464">
                  <a:moveTo>
                    <a:pt x="77520" y="0"/>
                  </a:moveTo>
                  <a:lnTo>
                    <a:pt x="1263944" y="0"/>
                  </a:lnTo>
                  <a:cubicBezTo>
                    <a:pt x="1306757" y="0"/>
                    <a:pt x="1341464" y="34707"/>
                    <a:pt x="1341464" y="77520"/>
                  </a:cubicBezTo>
                  <a:lnTo>
                    <a:pt x="1341464" y="1258702"/>
                  </a:lnTo>
                  <a:cubicBezTo>
                    <a:pt x="1341464" y="1279261"/>
                    <a:pt x="1333297" y="1298979"/>
                    <a:pt x="1318759" y="1313516"/>
                  </a:cubicBezTo>
                  <a:cubicBezTo>
                    <a:pt x="1304221" y="1328054"/>
                    <a:pt x="1284504" y="1336222"/>
                    <a:pt x="1263944" y="1336222"/>
                  </a:cubicBezTo>
                  <a:lnTo>
                    <a:pt x="77520" y="1336222"/>
                  </a:lnTo>
                  <a:cubicBezTo>
                    <a:pt x="56960" y="1336222"/>
                    <a:pt x="37243" y="1328054"/>
                    <a:pt x="22705" y="1313516"/>
                  </a:cubicBezTo>
                  <a:cubicBezTo>
                    <a:pt x="8167" y="1298979"/>
                    <a:pt x="0" y="1279261"/>
                    <a:pt x="0" y="1258702"/>
                  </a:cubicBezTo>
                  <a:lnTo>
                    <a:pt x="0" y="77520"/>
                  </a:lnTo>
                  <a:cubicBezTo>
                    <a:pt x="0" y="56960"/>
                    <a:pt x="8167" y="37243"/>
                    <a:pt x="22705" y="22705"/>
                  </a:cubicBezTo>
                  <a:cubicBezTo>
                    <a:pt x="37243" y="8167"/>
                    <a:pt x="56960" y="0"/>
                    <a:pt x="77520" y="0"/>
                  </a:cubicBezTo>
                  <a:close/>
                </a:path>
              </a:pathLst>
            </a:custGeom>
            <a:ln w="66675" cap="rnd">
              <a:solidFill>
                <a:srgbClr val="5CA3B2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1341464" cy="14028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352608" y="3613791"/>
            <a:ext cx="4264169" cy="87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The Implementation Laye</a:t>
            </a: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 (Web POS)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5143500"/>
            <a:ext cx="4919897" cy="3199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1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300" spc="-1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eveloping a Web POS using FastAPI as a "Front-end" for the database.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1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Real-time CRUD operations directly affecting the tables.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1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Interactive Dashboard fueled by SQL Aggregation functions.</a:t>
            </a:r>
          </a:p>
          <a:p>
            <a:pPr algn="l">
              <a:lnSpc>
                <a:spcPts val="3220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6898416" y="3832758"/>
            <a:ext cx="4489134" cy="441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Reports &amp; Analytics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596297" y="4937017"/>
            <a:ext cx="4918954" cy="359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8714" indent="-274357" lvl="1">
              <a:lnSpc>
                <a:spcPts val="3558"/>
              </a:lnSpc>
              <a:buFont typeface="Arial"/>
              <a:buChar char="•"/>
            </a:pPr>
            <a:r>
              <a:rPr lang="en-US" sz="25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</a:t>
            </a:r>
            <a:r>
              <a:rPr lang="en-US" sz="25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enerating "End of Shift" reports.</a:t>
            </a:r>
          </a:p>
          <a:p>
            <a:pPr algn="l" marL="548714" indent="-274357" lvl="1">
              <a:lnSpc>
                <a:spcPts val="3558"/>
              </a:lnSpc>
              <a:buFont typeface="Arial"/>
              <a:buChar char="•"/>
            </a:pPr>
            <a:r>
              <a:rPr lang="en-US" sz="25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Tracking Inventory movements (inventory_movement).</a:t>
            </a:r>
          </a:p>
          <a:p>
            <a:pPr algn="l" marL="548714" indent="-274357" lvl="1">
              <a:lnSpc>
                <a:spcPts val="3558"/>
              </a:lnSpc>
              <a:buFont typeface="Arial"/>
              <a:buChar char="•"/>
            </a:pPr>
            <a:r>
              <a:rPr lang="en-US" sz="25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Visualizing sales trends via chart integration.</a:t>
            </a:r>
          </a:p>
          <a:p>
            <a:pPr algn="l">
              <a:lnSpc>
                <a:spcPts val="3558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2769348" y="3613683"/>
            <a:ext cx="3884897" cy="87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Concl</a:t>
            </a: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usion &amp; Future Work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165111" y="5133975"/>
            <a:ext cx="4817393" cy="263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Scalabl</a:t>
            </a: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 design ready for SQL Server production.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Future: Adding Triggers for automated stock updates and Stored Procedures for complex reporting.</a:t>
            </a:r>
          </a:p>
        </p:txBody>
      </p:sp>
      <p:sp>
        <p:nvSpPr>
          <p:cNvPr name="AutoShape 22" id="22"/>
          <p:cNvSpPr/>
          <p:nvPr/>
        </p:nvSpPr>
        <p:spPr>
          <a:xfrm>
            <a:off x="1028302" y="4804845"/>
            <a:ext cx="5093371" cy="0"/>
          </a:xfrm>
          <a:prstGeom prst="line">
            <a:avLst/>
          </a:prstGeom>
          <a:ln cap="flat" w="66675">
            <a:solidFill>
              <a:srgbClr val="5CA3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6596706" y="4771508"/>
            <a:ext cx="5093371" cy="0"/>
          </a:xfrm>
          <a:prstGeom prst="line">
            <a:avLst/>
          </a:prstGeom>
          <a:ln cap="flat" w="66675">
            <a:solidFill>
              <a:srgbClr val="5CA3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12166327" y="4771508"/>
            <a:ext cx="5093371" cy="0"/>
          </a:xfrm>
          <a:prstGeom prst="line">
            <a:avLst/>
          </a:prstGeom>
          <a:ln cap="flat" w="66675">
            <a:solidFill>
              <a:srgbClr val="5CA3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5" id="25"/>
          <p:cNvSpPr/>
          <p:nvPr/>
        </p:nvSpPr>
        <p:spPr>
          <a:xfrm flipH="false" flipV="false" rot="0">
            <a:off x="1028700" y="1079804"/>
            <a:ext cx="860834" cy="1002427"/>
          </a:xfrm>
          <a:custGeom>
            <a:avLst/>
            <a:gdLst/>
            <a:ahLst/>
            <a:cxnLst/>
            <a:rect r="r" b="b" t="t" l="l"/>
            <a:pathLst>
              <a:path h="1002427" w="860834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60343" y="9889125"/>
            <a:ext cx="19408687" cy="996493"/>
            <a:chOff x="0" y="0"/>
            <a:chExt cx="5111753" cy="2624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11753" cy="262451"/>
            </a:xfrm>
            <a:custGeom>
              <a:avLst/>
              <a:gdLst/>
              <a:ahLst/>
              <a:cxnLst/>
              <a:rect r="r" b="b" t="t" l="l"/>
              <a:pathLst>
                <a:path h="262451" w="5111753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615651" y="3178002"/>
            <a:ext cx="9056698" cy="1803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b="true" sz="9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</a:t>
            </a:r>
            <a:r>
              <a:rPr lang="en-US" b="true" sz="9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ank you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670413" y="5384437"/>
            <a:ext cx="6947174" cy="1438812"/>
            <a:chOff x="0" y="0"/>
            <a:chExt cx="1829708" cy="37894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9708" cy="378946"/>
            </a:xfrm>
            <a:custGeom>
              <a:avLst/>
              <a:gdLst/>
              <a:ahLst/>
              <a:cxnLst/>
              <a:rect r="r" b="b" t="t" l="l"/>
              <a:pathLst>
                <a:path h="378946" w="1829708">
                  <a:moveTo>
                    <a:pt x="111440" y="0"/>
                  </a:moveTo>
                  <a:lnTo>
                    <a:pt x="1718269" y="0"/>
                  </a:lnTo>
                  <a:cubicBezTo>
                    <a:pt x="1779815" y="0"/>
                    <a:pt x="1829708" y="49893"/>
                    <a:pt x="1829708" y="111440"/>
                  </a:cubicBezTo>
                  <a:lnTo>
                    <a:pt x="1829708" y="267506"/>
                  </a:lnTo>
                  <a:cubicBezTo>
                    <a:pt x="1829708" y="297062"/>
                    <a:pt x="1817968" y="325407"/>
                    <a:pt x="1797068" y="346306"/>
                  </a:cubicBezTo>
                  <a:cubicBezTo>
                    <a:pt x="1776169" y="367205"/>
                    <a:pt x="1747824" y="378946"/>
                    <a:pt x="1718269" y="378946"/>
                  </a:cubicBezTo>
                  <a:lnTo>
                    <a:pt x="111440" y="378946"/>
                  </a:lnTo>
                  <a:cubicBezTo>
                    <a:pt x="81884" y="378946"/>
                    <a:pt x="53539" y="367205"/>
                    <a:pt x="32640" y="346306"/>
                  </a:cubicBezTo>
                  <a:cubicBezTo>
                    <a:pt x="11741" y="325407"/>
                    <a:pt x="0" y="297062"/>
                    <a:pt x="0" y="267506"/>
                  </a:cubicBezTo>
                  <a:lnTo>
                    <a:pt x="0" y="111440"/>
                  </a:lnTo>
                  <a:cubicBezTo>
                    <a:pt x="0" y="81884"/>
                    <a:pt x="11741" y="53539"/>
                    <a:pt x="32640" y="32640"/>
                  </a:cubicBezTo>
                  <a:cubicBezTo>
                    <a:pt x="53539" y="11741"/>
                    <a:pt x="81884" y="0"/>
                    <a:pt x="111440" y="0"/>
                  </a:cubicBezTo>
                  <a:close/>
                </a:path>
              </a:pathLst>
            </a:custGeom>
            <a:ln w="85725" cap="rnd">
              <a:solidFill>
                <a:srgbClr val="5CA3B2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829708" cy="436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101144" y="5733955"/>
            <a:ext cx="6085713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for yo</a:t>
            </a:r>
            <a:r>
              <a:rPr lang="en-US" sz="3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ur attention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6398466" y="8255873"/>
            <a:ext cx="860834" cy="1002427"/>
          </a:xfrm>
          <a:custGeom>
            <a:avLst/>
            <a:gdLst/>
            <a:ahLst/>
            <a:cxnLst/>
            <a:rect r="r" b="b" t="t" l="l"/>
            <a:pathLst>
              <a:path h="1002427" w="860834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28700" y="1028700"/>
            <a:ext cx="860834" cy="1002427"/>
          </a:xfrm>
          <a:custGeom>
            <a:avLst/>
            <a:gdLst/>
            <a:ahLst/>
            <a:cxnLst/>
            <a:rect r="r" b="b" t="t" l="l"/>
            <a:pathLst>
              <a:path h="1002427" w="860834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227414" y="349211"/>
            <a:ext cx="2619662" cy="2619662"/>
          </a:xfrm>
          <a:custGeom>
            <a:avLst/>
            <a:gdLst/>
            <a:ahLst/>
            <a:cxnLst/>
            <a:rect r="r" b="b" t="t" l="l"/>
            <a:pathLst>
              <a:path h="2619662" w="2619662">
                <a:moveTo>
                  <a:pt x="0" y="0"/>
                </a:moveTo>
                <a:lnTo>
                  <a:pt x="2619662" y="0"/>
                </a:lnTo>
                <a:lnTo>
                  <a:pt x="2619662" y="2619662"/>
                </a:lnTo>
                <a:lnTo>
                  <a:pt x="0" y="26196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DAHJTXaGJ14</dc:identifier>
  <dcterms:modified xsi:type="dcterms:W3CDTF">2011-08-01T06:04:30Z</dcterms:modified>
  <cp:revision>1</cp:revision>
  <dc:title>Teal Modern Data Analysts Presentation</dc:title>
</cp:coreProperties>
</file>